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oper BT Bold" panose="0208080404030B020404" pitchFamily="18" charset="0"/>
      <p:regular r:id="rId12"/>
      <p:bold r:id="rId13"/>
    </p:embeddedFont>
    <p:embeddedFont>
      <p:font typeface="Cooper BT Light" panose="0208050304030B020404" pitchFamily="18" charset="0"/>
      <p:regular r:id="rId14"/>
    </p:embeddedFont>
    <p:embeddedFont>
      <p:font typeface="Cooper BT Medium" panose="0208060305030B020404" pitchFamily="18" charset="0"/>
      <p:regular r:id="rId15"/>
    </p:embeddedFont>
    <p:embeddedFont>
      <p:font typeface="Georgia Pro Condensed" panose="02040502050405020303" pitchFamily="18" charset="0"/>
      <p:regular r:id="rId16"/>
      <p:bold r:id="rId17"/>
      <p:italic r:id="rId18"/>
      <p:boldItalic r:id="rId19"/>
    </p:embeddedFont>
    <p:embeddedFont>
      <p:font typeface="Helvetica World" pitchFamily="2" charset="0"/>
      <p:regular r:id="rId20"/>
    </p:embeddedFont>
    <p:embeddedFont>
      <p:font typeface="Helvetica World Bold" pitchFamily="2" charset="0"/>
      <p:regular r:id="rId21"/>
    </p:embeddedFont>
    <p:embeddedFont>
      <p:font typeface="TT Interphases" panose="02000503020000020004" pitchFamily="2" charset="0"/>
      <p:regular r:id="rId22"/>
    </p:embeddedFont>
    <p:embeddedFont>
      <p:font typeface="TT Interphases Bold" panose="02000803060000020004" pitchFamily="2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E9C87-17C1-B547-8A43-C3E4E30A8FFC}" v="1" dt="2025-11-03T02:26:40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8" autoAdjust="0"/>
  </p:normalViewPr>
  <p:slideViewPr>
    <p:cSldViewPr>
      <p:cViewPr varScale="1">
        <p:scale>
          <a:sx n="80" d="100"/>
          <a:sy n="8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el Garcia" userId="8f6a1e43-fea9-4ea3-8ac4-a97859523b01" providerId="ADAL" clId="{9DE17BCC-9BE0-5485-9016-C997E3CAB9C5}"/>
    <pc:docChg chg="modSld">
      <pc:chgData name="Leonel Garcia" userId="8f6a1e43-fea9-4ea3-8ac4-a97859523b01" providerId="ADAL" clId="{9DE17BCC-9BE0-5485-9016-C997E3CAB9C5}" dt="2025-11-03T02:26:50.913" v="18" actId="1076"/>
      <pc:docMkLst>
        <pc:docMk/>
      </pc:docMkLst>
      <pc:sldChg chg="addSp modSp mod">
        <pc:chgData name="Leonel Garcia" userId="8f6a1e43-fea9-4ea3-8ac4-a97859523b01" providerId="ADAL" clId="{9DE17BCC-9BE0-5485-9016-C997E3CAB9C5}" dt="2025-11-03T02:26:50.913" v="18" actId="1076"/>
        <pc:sldMkLst>
          <pc:docMk/>
          <pc:sldMk cId="0" sldId="263"/>
        </pc:sldMkLst>
        <pc:spChg chg="mod">
          <ac:chgData name="Leonel Garcia" userId="8f6a1e43-fea9-4ea3-8ac4-a97859523b01" providerId="ADAL" clId="{9DE17BCC-9BE0-5485-9016-C997E3CAB9C5}" dt="2025-11-03T02:26:14.327" v="11" actId="20577"/>
          <ac:spMkLst>
            <pc:docMk/>
            <pc:sldMk cId="0" sldId="263"/>
            <ac:spMk id="16" creationId="{00000000-0000-0000-0000-000000000000}"/>
          </ac:spMkLst>
        </pc:spChg>
        <pc:grpChg chg="mod">
          <ac:chgData name="Leonel Garcia" userId="8f6a1e43-fea9-4ea3-8ac4-a97859523b01" providerId="ADAL" clId="{9DE17BCC-9BE0-5485-9016-C997E3CAB9C5}" dt="2025-11-03T02:26:17.040" v="12" actId="14100"/>
          <ac:grpSpMkLst>
            <pc:docMk/>
            <pc:sldMk cId="0" sldId="263"/>
            <ac:grpSpMk id="14" creationId="{00000000-0000-0000-0000-000000000000}"/>
          </ac:grpSpMkLst>
        </pc:grpChg>
        <pc:picChg chg="add mod">
          <ac:chgData name="Leonel Garcia" userId="8f6a1e43-fea9-4ea3-8ac4-a97859523b01" providerId="ADAL" clId="{9DE17BCC-9BE0-5485-9016-C997E3CAB9C5}" dt="2025-11-03T02:26:50.913" v="18" actId="1076"/>
          <ac:picMkLst>
            <pc:docMk/>
            <pc:sldMk cId="0" sldId="263"/>
            <ac:picMk id="21" creationId="{C0B9C475-C64E-0DB9-68A5-C5E856F440D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5486455"/>
            <a:chOff x="0" y="0"/>
            <a:chExt cx="11099800" cy="7315273"/>
          </a:xfrm>
        </p:grpSpPr>
        <p:sp>
          <p:nvSpPr>
            <p:cNvPr id="6" name="TextBox 6"/>
            <p:cNvSpPr txBox="1"/>
            <p:nvPr/>
          </p:nvSpPr>
          <p:spPr>
            <a:xfrm>
              <a:off x="0" y="6689797"/>
              <a:ext cx="11099800" cy="625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 b="1" spc="-59">
                  <a:solidFill>
                    <a:srgbClr val="F2F6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Trabajo Practico Parte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11099800" cy="5999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>
                  <a:solidFill>
                    <a:srgbClr val="BDD7E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Sistema de Simulación de Torneo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8724859"/>
            <a:ext cx="8324850" cy="895391"/>
            <a:chOff x="0" y="0"/>
            <a:chExt cx="11099800" cy="1193854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81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>
                  <a:solidFill>
                    <a:srgbClr val="BDD7EE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Damian Bussetto &amp; Leonel Garcia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3912870"/>
            <a:chOff x="0" y="0"/>
            <a:chExt cx="11099800" cy="52171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1369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Este sistema permite </a:t>
              </a:r>
              <a:r>
                <a:rPr lang="en-US" sz="2400" b="1" u="none" strike="noStrike" spc="-48">
                  <a:solidFill>
                    <a:srgbClr val="F2F6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automatizar la gestión</a:t>
              </a: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 torneos de fútbol con 20 equipos, optimizando la planificación y análisis, facilitando la tarea a organizadores deportivos e instituciones educativas.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1750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BDD7E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Introducción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431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F2F6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Automatización de Torneos de Fútbol Eficiente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8324850" cy="6267450"/>
            <a:chOff x="0" y="0"/>
            <a:chExt cx="219255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650686"/>
            </a:xfrm>
            <a:custGeom>
              <a:avLst/>
              <a:gdLst/>
              <a:ahLst/>
              <a:cxnLst/>
              <a:rect l="l" t="t" r="r" b="b"/>
              <a:pathLst>
                <a:path w="2192553" h="165068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3352800"/>
            <a:ext cx="8324850" cy="6267450"/>
            <a:chOff x="0" y="0"/>
            <a:chExt cx="219255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650686"/>
            </a:xfrm>
            <a:custGeom>
              <a:avLst/>
              <a:gdLst/>
              <a:ahLst/>
              <a:cxnLst/>
              <a:rect l="l" t="t" r="r" b="b"/>
              <a:pathLst>
                <a:path w="2192553" h="165068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05025" y="819150"/>
            <a:ext cx="14077950" cy="217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3"/>
              </a:lnSpc>
              <a:spcBef>
                <a:spcPct val="0"/>
              </a:spcBef>
            </a:pPr>
            <a:r>
              <a:rPr lang="en-US" sz="8393" u="none" strike="noStrike" spc="-167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Objetivos y Aplicaciones del Sistema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00225" y="4248150"/>
            <a:ext cx="5753100" cy="2817421"/>
            <a:chOff x="0" y="0"/>
            <a:chExt cx="7670800" cy="375656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55601"/>
              <a:ext cx="7670800" cy="2600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El sistema permite la </a:t>
              </a:r>
              <a:r>
                <a:rPr lang="en-US" sz="2400" b="1" u="none" strike="noStrike" spc="-48">
                  <a:solidFill>
                    <a:srgbClr val="F2F6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simulación automática</a:t>
              </a: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 torneos de fútbol, optimizando la organización con 20 equipos, lo que ahorra tiempo y reduce errores humanos en la planificación.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6708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2F6FC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Simulación Completa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716" y="4248150"/>
            <a:ext cx="5705259" cy="2817421"/>
            <a:chOff x="0" y="0"/>
            <a:chExt cx="7607012" cy="3756561"/>
          </a:xfrm>
        </p:grpSpPr>
        <p:sp>
          <p:nvSpPr>
            <p:cNvPr id="13" name="TextBox 13"/>
            <p:cNvSpPr txBox="1"/>
            <p:nvPr/>
          </p:nvSpPr>
          <p:spPr>
            <a:xfrm>
              <a:off x="4934" y="1155601"/>
              <a:ext cx="7585392" cy="2600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Ideal para </a:t>
              </a:r>
              <a:r>
                <a:rPr lang="en-US" sz="2400" b="1" u="none" strike="noStrike" spc="-48">
                  <a:solidFill>
                    <a:srgbClr val="F2F6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organizar torneos reales</a:t>
              </a: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entornos educativos y análisis deportivo, facilitando la visualización de escenarios y generando estadísticas precisas para la toma de decisiones informadas.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607012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2F6FC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Casos de Uso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flipH="1" flipV="1">
            <a:off x="16683209" y="3726256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28144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5" y="0"/>
                </a:lnTo>
                <a:lnTo>
                  <a:pt x="3459015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63666" y="764065"/>
            <a:ext cx="15160668" cy="2365204"/>
            <a:chOff x="0" y="0"/>
            <a:chExt cx="20214224" cy="3153605"/>
          </a:xfrm>
        </p:grpSpPr>
        <p:sp>
          <p:nvSpPr>
            <p:cNvPr id="4" name="TextBox 4"/>
            <p:cNvSpPr txBox="1"/>
            <p:nvPr/>
          </p:nvSpPr>
          <p:spPr>
            <a:xfrm>
              <a:off x="0" y="-104775"/>
              <a:ext cx="20214224" cy="1955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900"/>
                </a:lnSpc>
              </a:pPr>
              <a:r>
                <a:rPr lang="en-US" sz="9154" spc="-274">
                  <a:solidFill>
                    <a:srgbClr val="F0F4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Funcionalidades Principales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514191"/>
              <a:ext cx="20214224" cy="639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32"/>
                </a:lnSpc>
                <a:spcBef>
                  <a:spcPct val="0"/>
                </a:spcBef>
              </a:pPr>
              <a:r>
                <a:rPr lang="en-US" sz="2860" b="1" spc="-42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Principales características del sistema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86682" y="5127960"/>
            <a:ext cx="4919251" cy="2943560"/>
            <a:chOff x="0" y="0"/>
            <a:chExt cx="6559001" cy="3924747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6559001" cy="609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25"/>
                </a:lnSpc>
                <a:spcBef>
                  <a:spcPct val="0"/>
                </a:spcBef>
              </a:pPr>
              <a:r>
                <a:rPr lang="en-US" sz="2854" b="1" spc="-42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Gestión segura (Login)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228401"/>
              <a:ext cx="6559001" cy="269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6"/>
                </a:lnSpc>
              </a:pPr>
              <a:r>
                <a:rPr lang="en-US" sz="2283" u="none" strike="noStrike" spc="-34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</a:t>
              </a:r>
              <a:r>
                <a:rPr lang="en-US" sz="2283" b="1" u="none" strike="noStrike" spc="-34">
                  <a:solidFill>
                    <a:srgbClr val="DBE7F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gestión segura de usuarios</a:t>
              </a:r>
              <a:r>
                <a:rPr lang="en-US" sz="2283" u="none" strike="noStrike" spc="-34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permite a los administradores controlar el acceso y los permisos, asegurando que solo el personal autorizado pueda realizar modificaciones en el sistema.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4548" y="5127960"/>
            <a:ext cx="4010025" cy="2959100"/>
            <a:chOff x="0" y="0"/>
            <a:chExt cx="5346700" cy="3945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Generación automática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79500"/>
              <a:ext cx="5346700" cy="2865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</a:t>
              </a:r>
              <a:r>
                <a:rPr lang="en-US" sz="2000" b="1" u="none" strike="noStrike" spc="-30">
                  <a:solidFill>
                    <a:srgbClr val="DBE7F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generación automática del fixture</a:t>
              </a:r>
              <a:r>
                <a:rPr lang="en-US" sz="2000" u="none" strike="noStrike" spc="-30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proporciona un calendario equilibrado de 19 fechas y 10 partidos cada una, optimizando la planificación y el tiempo necesario para organizar el torneo.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35823" y="5127960"/>
            <a:ext cx="4010025" cy="2959100"/>
            <a:chOff x="0" y="0"/>
            <a:chExt cx="5346700" cy="39454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Validación de equipos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79500"/>
              <a:ext cx="5346700" cy="2865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</a:t>
              </a:r>
              <a:r>
                <a:rPr lang="en-US" sz="2000" b="1" u="none" strike="noStrike" spc="-30">
                  <a:solidFill>
                    <a:srgbClr val="DBE7F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administración y validación de equipos</a:t>
              </a:r>
              <a:r>
                <a:rPr lang="en-US" sz="2000" u="none" strike="noStrike" spc="-30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garantiza que cada equipo esté correctamente registrado y verificado, permitiendo una carga manual o precargada para una fácil configuración del torneo.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28675"/>
            <a:ext cx="16952821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Funcionalidades Clave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6652" y="4391025"/>
            <a:ext cx="257175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160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43016" y="4391025"/>
            <a:ext cx="257175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160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25259" y="4391025"/>
            <a:ext cx="257175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160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03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6652" y="5675588"/>
            <a:ext cx="4308497" cy="2901950"/>
            <a:chOff x="0" y="0"/>
            <a:chExt cx="5744662" cy="3869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525"/>
              <a:ext cx="5744662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Simulación automática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79500"/>
              <a:ext cx="5744662" cy="278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simulación automática genera resultados realistas de cada partido, utilizando algoritmos para asegurar que los goles sean aleatorios, pero coherentes con el rendimiento de los equipos.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43016" y="5675588"/>
            <a:ext cx="4010025" cy="2901950"/>
            <a:chOff x="0" y="0"/>
            <a:chExt cx="5346700" cy="386926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9525"/>
              <a:ext cx="5346700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Cálculo dinámico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079500"/>
              <a:ext cx="5346700" cy="2789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tabla de posiciones se actualiza en tiempo real, reflejando automáticamente los resultados de los partidos, lo que permite a los usuarios ver el estado actual del torneo al instante.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25259" y="5675588"/>
            <a:ext cx="4434041" cy="2549525"/>
            <a:chOff x="0" y="0"/>
            <a:chExt cx="5912055" cy="3399367"/>
          </a:xfrm>
        </p:grpSpPr>
        <p:sp>
          <p:nvSpPr>
            <p:cNvPr id="22" name="TextBox 22"/>
            <p:cNvSpPr txBox="1"/>
            <p:nvPr/>
          </p:nvSpPr>
          <p:spPr>
            <a:xfrm>
              <a:off x="0" y="9525"/>
              <a:ext cx="5912055" cy="5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Exportación de estadísticas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79500"/>
              <a:ext cx="5912055" cy="2319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DBE7F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Los usuarios pueden exportar estadísticas detalladas en formato CSV, facilitando el análisis externo y la creación de reportes profesionales que benefician la presentación de resultados.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66750" y="666750"/>
            <a:ext cx="6886575" cy="3048001"/>
            <a:chOff x="0" y="0"/>
            <a:chExt cx="9182100" cy="4064001"/>
          </a:xfrm>
        </p:grpSpPr>
        <p:sp>
          <p:nvSpPr>
            <p:cNvPr id="7" name="TextBox 7"/>
            <p:cNvSpPr txBox="1"/>
            <p:nvPr/>
          </p:nvSpPr>
          <p:spPr>
            <a:xfrm>
              <a:off x="0" y="3545841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F2F6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Cálculo y análisis eficaz de resultados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61925"/>
              <a:ext cx="9182100" cy="2996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BDD7E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Simulación y Estadísticas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1562100"/>
            <a:ext cx="7633273" cy="1001581"/>
            <a:chOff x="0" y="0"/>
            <a:chExt cx="10177698" cy="133544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10177698" cy="7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2"/>
                </a:lnSpc>
                <a:spcBef>
                  <a:spcPct val="0"/>
                </a:spcBef>
              </a:pPr>
              <a:r>
                <a:rPr lang="en-US" sz="3325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Simulación Automática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74754"/>
              <a:ext cx="10177698" cy="5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8"/>
                </a:lnSpc>
                <a:spcBef>
                  <a:spcPct val="0"/>
                </a:spcBef>
              </a:pPr>
              <a:r>
                <a:rPr lang="en-US" sz="2660" u="none" strike="noStrike" spc="-53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Genera resultados realistas de forma instantánea.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3549074"/>
            <a:ext cx="7633273" cy="1001581"/>
            <a:chOff x="0" y="0"/>
            <a:chExt cx="10177698" cy="133544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0177698" cy="7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2"/>
                </a:lnSpc>
                <a:spcBef>
                  <a:spcPct val="0"/>
                </a:spcBef>
              </a:pPr>
              <a:r>
                <a:rPr lang="en-US" sz="3325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Actualización Dinámica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74754"/>
              <a:ext cx="10177698" cy="5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8"/>
                </a:lnSpc>
                <a:spcBef>
                  <a:spcPct val="0"/>
                </a:spcBef>
              </a:pPr>
              <a:r>
                <a:rPr lang="en-US" sz="2660" u="none" strike="noStrike" spc="-53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Mantiene tablas de posiciones siempre al día.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6400" y="5532529"/>
            <a:ext cx="7633273" cy="1001581"/>
            <a:chOff x="0" y="0"/>
            <a:chExt cx="10177698" cy="133544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10177698" cy="7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2"/>
                </a:lnSpc>
                <a:spcBef>
                  <a:spcPct val="0"/>
                </a:spcBef>
              </a:pPr>
              <a:r>
                <a:rPr lang="en-US" sz="3325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Exportación de Datos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74754"/>
              <a:ext cx="10177698" cy="5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8"/>
                </a:lnSpc>
                <a:spcBef>
                  <a:spcPct val="0"/>
                </a:spcBef>
              </a:pPr>
              <a:r>
                <a:rPr lang="en-US" sz="2660" u="none" strike="noStrike" spc="-53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Facilita informes y análisis externos sin esfuerzo.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96400" y="7515983"/>
            <a:ext cx="7633273" cy="1001581"/>
            <a:chOff x="0" y="0"/>
            <a:chExt cx="10177698" cy="1335441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38100"/>
              <a:ext cx="10177698" cy="7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2"/>
                </a:lnSpc>
                <a:spcBef>
                  <a:spcPct val="0"/>
                </a:spcBef>
              </a:pPr>
              <a:r>
                <a:rPr lang="en-US" sz="3325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Interfaz Intuitiva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74754"/>
              <a:ext cx="10177698" cy="5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8"/>
                </a:lnSpc>
                <a:spcBef>
                  <a:spcPct val="0"/>
                </a:spcBef>
              </a:pPr>
              <a:r>
                <a:rPr lang="en-US" sz="2660" u="none" strike="noStrike" spc="-53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Permite a los usuarios interactuar sin complicaciones.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-1671190" y="6942954"/>
            <a:ext cx="21630379" cy="0"/>
          </a:xfrm>
          <a:prstGeom prst="line">
            <a:avLst/>
          </a:prstGeom>
          <a:ln w="28575" cap="flat">
            <a:solidFill>
              <a:srgbClr val="F2F6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700588" y="6814366"/>
            <a:ext cx="257175" cy="2571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6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66366" y="6814366"/>
            <a:ext cx="257175" cy="2571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6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35000" y="6814366"/>
            <a:ext cx="257175" cy="2571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6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82238" y="6814366"/>
            <a:ext cx="257175" cy="25717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6F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297752" y="3352800"/>
            <a:ext cx="1062847" cy="1190561"/>
          </a:xfrm>
          <a:custGeom>
            <a:avLst/>
            <a:gdLst/>
            <a:ahLst/>
            <a:cxnLst/>
            <a:rect l="l" t="t" r="r" b="b"/>
            <a:pathLst>
              <a:path w="1062847" h="1190561">
                <a:moveTo>
                  <a:pt x="0" y="0"/>
                </a:moveTo>
                <a:lnTo>
                  <a:pt x="1062846" y="0"/>
                </a:lnTo>
                <a:lnTo>
                  <a:pt x="1062846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159921" y="3352800"/>
            <a:ext cx="1101811" cy="1190561"/>
          </a:xfrm>
          <a:custGeom>
            <a:avLst/>
            <a:gdLst/>
            <a:ahLst/>
            <a:cxnLst/>
            <a:rect l="l" t="t" r="r" b="b"/>
            <a:pathLst>
              <a:path w="1101811" h="1190561">
                <a:moveTo>
                  <a:pt x="0" y="0"/>
                </a:moveTo>
                <a:lnTo>
                  <a:pt x="1101810" y="0"/>
                </a:lnTo>
                <a:lnTo>
                  <a:pt x="1101810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033225" y="3352800"/>
            <a:ext cx="1123457" cy="1190561"/>
          </a:xfrm>
          <a:custGeom>
            <a:avLst/>
            <a:gdLst/>
            <a:ahLst/>
            <a:cxnLst/>
            <a:rect l="l" t="t" r="r" b="b"/>
            <a:pathLst>
              <a:path w="1123457" h="1190561">
                <a:moveTo>
                  <a:pt x="0" y="0"/>
                </a:moveTo>
                <a:lnTo>
                  <a:pt x="1123457" y="0"/>
                </a:lnTo>
                <a:lnTo>
                  <a:pt x="1123457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940823" y="3352800"/>
            <a:ext cx="1045529" cy="1190561"/>
          </a:xfrm>
          <a:custGeom>
            <a:avLst/>
            <a:gdLst/>
            <a:ahLst/>
            <a:cxnLst/>
            <a:rect l="l" t="t" r="r" b="b"/>
            <a:pathLst>
              <a:path w="1045529" h="1190561">
                <a:moveTo>
                  <a:pt x="0" y="0"/>
                </a:moveTo>
                <a:lnTo>
                  <a:pt x="1045529" y="0"/>
                </a:lnTo>
                <a:lnTo>
                  <a:pt x="1045529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701110" y="8518972"/>
            <a:ext cx="2256129" cy="1233164"/>
          </a:xfrm>
          <a:custGeom>
            <a:avLst/>
            <a:gdLst/>
            <a:ahLst/>
            <a:cxnLst/>
            <a:rect l="l" t="t" r="r" b="b"/>
            <a:pathLst>
              <a:path w="2256129" h="1233164">
                <a:moveTo>
                  <a:pt x="0" y="0"/>
                </a:moveTo>
                <a:lnTo>
                  <a:pt x="2256130" y="0"/>
                </a:lnTo>
                <a:lnTo>
                  <a:pt x="2256130" y="1233164"/>
                </a:lnTo>
                <a:lnTo>
                  <a:pt x="0" y="12331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6333309" y="8518972"/>
            <a:ext cx="3026882" cy="1280923"/>
          </a:xfrm>
          <a:custGeom>
            <a:avLst/>
            <a:gdLst/>
            <a:ahLst/>
            <a:cxnLst/>
            <a:rect l="l" t="t" r="r" b="b"/>
            <a:pathLst>
              <a:path w="3026882" h="1280923">
                <a:moveTo>
                  <a:pt x="0" y="0"/>
                </a:moveTo>
                <a:lnTo>
                  <a:pt x="3026881" y="0"/>
                </a:lnTo>
                <a:lnTo>
                  <a:pt x="3026881" y="1280923"/>
                </a:lnTo>
                <a:lnTo>
                  <a:pt x="0" y="12809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4000"/>
            </a:blip>
            <a:stretch>
              <a:fillRect r="-190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9417340" y="8289521"/>
            <a:ext cx="2507960" cy="1937557"/>
          </a:xfrm>
          <a:custGeom>
            <a:avLst/>
            <a:gdLst/>
            <a:ahLst/>
            <a:cxnLst/>
            <a:rect l="l" t="t" r="r" b="b"/>
            <a:pathLst>
              <a:path w="2507960" h="1937557">
                <a:moveTo>
                  <a:pt x="0" y="0"/>
                </a:moveTo>
                <a:lnTo>
                  <a:pt x="2507960" y="0"/>
                </a:lnTo>
                <a:lnTo>
                  <a:pt x="2507960" y="1937558"/>
                </a:lnTo>
                <a:lnTo>
                  <a:pt x="0" y="19375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925300" y="8812574"/>
            <a:ext cx="3599912" cy="612168"/>
          </a:xfrm>
          <a:custGeom>
            <a:avLst/>
            <a:gdLst/>
            <a:ahLst/>
            <a:cxnLst/>
            <a:rect l="l" t="t" r="r" b="b"/>
            <a:pathLst>
              <a:path w="3599912" h="612168">
                <a:moveTo>
                  <a:pt x="0" y="0"/>
                </a:moveTo>
                <a:lnTo>
                  <a:pt x="3599912" y="0"/>
                </a:lnTo>
                <a:lnTo>
                  <a:pt x="3599912" y="612168"/>
                </a:lnTo>
                <a:lnTo>
                  <a:pt x="0" y="6121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66750" y="828675"/>
            <a:ext cx="16954500" cy="113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Flujo de Operación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43300" y="5338302"/>
            <a:ext cx="25717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38"/>
              </a:lnSpc>
              <a:spcBef>
                <a:spcPct val="0"/>
              </a:spcBef>
            </a:pPr>
            <a:r>
              <a:rPr lang="en-US" sz="1782">
                <a:solidFill>
                  <a:srgbClr val="F2F6F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Inicio de sesión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43300" y="7824476"/>
            <a:ext cx="257175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0"/>
              </a:lnSpc>
              <a:spcBef>
                <a:spcPct val="0"/>
              </a:spcBef>
            </a:pPr>
            <a:r>
              <a:rPr lang="en-US" sz="1200" u="none" strike="noStrike" spc="-24">
                <a:solidFill>
                  <a:srgbClr val="F2F6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Acceso seguro con credenciales de usuario.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0052" y="5338302"/>
            <a:ext cx="256154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38"/>
              </a:lnSpc>
              <a:spcBef>
                <a:spcPct val="0"/>
              </a:spcBef>
            </a:pPr>
            <a:r>
              <a:rPr lang="en-US" sz="1782">
                <a:solidFill>
                  <a:srgbClr val="F2F6F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Carga de equipos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0052" y="7824476"/>
            <a:ext cx="256154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0"/>
              </a:lnSpc>
              <a:spcBef>
                <a:spcPct val="0"/>
              </a:spcBef>
            </a:pPr>
            <a:r>
              <a:rPr lang="en-US" sz="1200" u="none" strike="noStrike" spc="-24">
                <a:solidFill>
                  <a:srgbClr val="F2F6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Equipos se cargan manual o automáticamente.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82475" y="5071602"/>
            <a:ext cx="256222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38"/>
              </a:lnSpc>
              <a:spcBef>
                <a:spcPct val="0"/>
              </a:spcBef>
            </a:pPr>
            <a:r>
              <a:rPr lang="en-US" sz="1782">
                <a:solidFill>
                  <a:srgbClr val="F2F6F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Simulación de resultados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82475" y="7824476"/>
            <a:ext cx="25622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0"/>
              </a:lnSpc>
              <a:spcBef>
                <a:spcPct val="0"/>
              </a:spcBef>
            </a:pPr>
            <a:r>
              <a:rPr lang="en-US" sz="1200" u="none" strike="noStrike" spc="-24">
                <a:solidFill>
                  <a:srgbClr val="F2F6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Resultados simulados actualizan posiciones instantáneamente.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05925" y="5338302"/>
            <a:ext cx="256222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38"/>
              </a:lnSpc>
              <a:spcBef>
                <a:spcPct val="0"/>
              </a:spcBef>
            </a:pPr>
            <a:r>
              <a:rPr lang="en-US" sz="1782">
                <a:solidFill>
                  <a:srgbClr val="F2F6FC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Generación automática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05925" y="7829550"/>
            <a:ext cx="25622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0"/>
              </a:lnSpc>
              <a:spcBef>
                <a:spcPct val="0"/>
              </a:spcBef>
            </a:pPr>
            <a:r>
              <a:rPr lang="en-US" sz="1200" u="none" strike="noStrike" spc="-24">
                <a:solidFill>
                  <a:srgbClr val="F2F6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Fixture creado automáticamente con 19 fechas.</a:t>
            </a:r>
          </a:p>
        </p:txBody>
      </p:sp>
      <p:sp>
        <p:nvSpPr>
          <p:cNvPr id="32" name="Freeform 32"/>
          <p:cNvSpPr/>
          <p:nvPr/>
        </p:nvSpPr>
        <p:spPr>
          <a:xfrm>
            <a:off x="228260" y="3225642"/>
            <a:ext cx="3585717" cy="2635439"/>
          </a:xfrm>
          <a:custGeom>
            <a:avLst/>
            <a:gdLst/>
            <a:ahLst/>
            <a:cxnLst/>
            <a:rect l="l" t="t" r="r" b="b"/>
            <a:pathLst>
              <a:path w="3585717" h="2635439">
                <a:moveTo>
                  <a:pt x="0" y="0"/>
                </a:moveTo>
                <a:lnTo>
                  <a:pt x="3585717" y="0"/>
                </a:lnTo>
                <a:lnTo>
                  <a:pt x="3585717" y="2635439"/>
                </a:lnTo>
                <a:lnTo>
                  <a:pt x="0" y="26354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3438526"/>
            <a:chOff x="0" y="0"/>
            <a:chExt cx="9182100" cy="4584701"/>
          </a:xfrm>
        </p:grpSpPr>
        <p:sp>
          <p:nvSpPr>
            <p:cNvPr id="6" name="TextBox 6"/>
            <p:cNvSpPr txBox="1"/>
            <p:nvPr/>
          </p:nvSpPr>
          <p:spPr>
            <a:xfrm>
              <a:off x="0" y="3545841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F2F6FC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Beneficios y funcionalidades destacadas del sistema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61925"/>
              <a:ext cx="9182100" cy="2996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BDD7E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Ventajas del Sistema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1562100"/>
            <a:ext cx="6886575" cy="903605"/>
            <a:chOff x="0" y="0"/>
            <a:chExt cx="9182100" cy="1204806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Automatización Completa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Reduce errores y ahorra tiempo en gestión.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4706"/>
            <a:ext cx="6886575" cy="903605"/>
            <a:chOff x="0" y="0"/>
            <a:chExt cx="9182100" cy="12048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Interfaz Intuitiva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Fácil de usar, sin conocimientos técnicos requeridos.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15560"/>
            <a:ext cx="7696200" cy="1313130"/>
            <a:chOff x="0" y="-38100"/>
            <a:chExt cx="9182100" cy="175083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Datos Exportables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6646"/>
              <a:ext cx="9182100" cy="10260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 dirty="0" err="1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Permite</a:t>
              </a:r>
              <a:r>
                <a:rPr lang="en-US" sz="2400" u="none" strike="noStrike" spc="-48" dirty="0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u="none" strike="noStrike" spc="-48" dirty="0" err="1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análisis</a:t>
              </a:r>
              <a:r>
                <a:rPr lang="en-US" sz="2400" u="none" strike="noStrike" spc="-48" dirty="0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u="none" strike="noStrike" spc="-48" dirty="0" err="1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</a:t>
              </a:r>
              <a:r>
                <a:rPr lang="en-US" sz="2400" u="none" strike="noStrike" spc="-48" dirty="0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Excel o BI y </a:t>
              </a:r>
              <a:r>
                <a:rPr lang="en-US" sz="2400" u="none" strike="noStrike" spc="-48" dirty="0" err="1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presentación</a:t>
              </a:r>
              <a:r>
                <a:rPr lang="en-US" sz="2400" u="none" strike="noStrike" spc="-48" dirty="0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de </a:t>
              </a:r>
              <a:r>
                <a:rPr lang="en-US" sz="2400" u="none" strike="noStrike" spc="-48" dirty="0" err="1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reportes</a:t>
              </a:r>
              <a:r>
                <a:rPr lang="en-US" sz="2400" u="none" strike="noStrike" spc="-48" dirty="0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6933565"/>
            <a:ext cx="6886575" cy="1294130"/>
            <a:chOff x="0" y="0"/>
            <a:chExt cx="9182100" cy="172550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Escalabilidad Aumentada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Adapta a torneos más grandes o diferentes modalidades.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B9C475-C64E-0DB9-68A5-C5E856F44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73304"/>
            <a:ext cx="6608025" cy="38633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352800"/>
            <a:ext cx="5448300" cy="6267450"/>
            <a:chOff x="0" y="0"/>
            <a:chExt cx="143494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6267450"/>
            <a:chOff x="0" y="0"/>
            <a:chExt cx="143494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3352800"/>
            <a:ext cx="5448300" cy="6267450"/>
            <a:chOff x="0" y="0"/>
            <a:chExt cx="1434943" cy="16506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650686"/>
            </a:xfrm>
            <a:custGeom>
              <a:avLst/>
              <a:gdLst/>
              <a:ahLst/>
              <a:cxnLst/>
              <a:rect l="l" t="t" r="r" b="b"/>
              <a:pathLst>
                <a:path w="1434943" h="1650686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B234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7589" y="828675"/>
            <a:ext cx="16952821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Beneficios Clave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41846" y="3845053"/>
            <a:ext cx="4098108" cy="4815940"/>
            <a:chOff x="0" y="0"/>
            <a:chExt cx="5464145" cy="642125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90500"/>
              <a:ext cx="5464145" cy="17903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99"/>
                </a:lnSpc>
                <a:spcBef>
                  <a:spcPct val="0"/>
                </a:spcBef>
              </a:pPr>
              <a:r>
                <a:rPr lang="en-US" sz="9799" u="none" strike="noStrike" spc="-195">
                  <a:solidFill>
                    <a:srgbClr val="BDD7E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139632"/>
              <a:ext cx="5464145" cy="1593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77"/>
                </a:lnSpc>
              </a:pPr>
              <a:r>
                <a:rPr lang="en-US" sz="3674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Escalabilidad y Adaptabilidad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166858"/>
              <a:ext cx="5464145" cy="1254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21"/>
                </a:lnSpc>
                <a:spcBef>
                  <a:spcPct val="0"/>
                </a:spcBef>
              </a:pPr>
              <a:r>
                <a:rPr lang="en-US" sz="2939" u="none" strike="noStrike" spc="-58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 adapta a torneos más grandes fácilmente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97" y="4070091"/>
            <a:ext cx="4571806" cy="4832869"/>
            <a:chOff x="0" y="0"/>
            <a:chExt cx="6095742" cy="6443825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52400"/>
              <a:ext cx="6095742" cy="1505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03"/>
                </a:lnSpc>
                <a:spcBef>
                  <a:spcPct val="0"/>
                </a:spcBef>
              </a:pPr>
              <a:r>
                <a:rPr lang="en-US" sz="8203" u="none" strike="noStrike" spc="-164">
                  <a:solidFill>
                    <a:srgbClr val="BDD7E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794613"/>
              <a:ext cx="6095742" cy="1330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99"/>
                </a:lnSpc>
                <a:spcBef>
                  <a:spcPct val="0"/>
                </a:spcBef>
              </a:pPr>
              <a:r>
                <a:rPr lang="en-US" sz="3076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Pe</a:t>
              </a:r>
              <a:r>
                <a:rPr lang="en-US" sz="3076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rsistencia y control total de la información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330596"/>
              <a:ext cx="6095742" cy="2113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99"/>
                </a:lnSpc>
                <a:spcBef>
                  <a:spcPct val="0"/>
                </a:spcBef>
              </a:pPr>
              <a:r>
                <a:rPr lang="en-US" sz="2461" spc="-49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Almacenami</a:t>
              </a:r>
              <a:r>
                <a:rPr lang="en-US" sz="2461" u="none" strike="noStrike" spc="-49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ento automático de usuarios, equipos y resultados en archivos CSV</a:t>
              </a:r>
            </a:p>
            <a:p>
              <a:pPr marL="0" lvl="0" indent="0" algn="l">
                <a:lnSpc>
                  <a:spcPts val="3199"/>
                </a:lnSpc>
                <a:spcBef>
                  <a:spcPct val="0"/>
                </a:spcBef>
              </a:pPr>
              <a:endParaRPr lang="en-US" sz="2461" u="none" strike="noStrike" spc="-49">
                <a:solidFill>
                  <a:srgbClr val="F2F6FC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668250" y="4064646"/>
            <a:ext cx="4730464" cy="4778290"/>
            <a:chOff x="0" y="0"/>
            <a:chExt cx="6307285" cy="6371053"/>
          </a:xfrm>
        </p:grpSpPr>
        <p:sp>
          <p:nvSpPr>
            <p:cNvPr id="21" name="TextBox 21"/>
            <p:cNvSpPr txBox="1"/>
            <p:nvPr/>
          </p:nvSpPr>
          <p:spPr>
            <a:xfrm>
              <a:off x="0" y="133350"/>
              <a:ext cx="6307285" cy="1321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94"/>
                </a:lnSpc>
                <a:spcBef>
                  <a:spcPct val="0"/>
                </a:spcBef>
              </a:pPr>
              <a:r>
                <a:rPr lang="en-US" sz="7194" u="none" strike="noStrike" spc="-143">
                  <a:solidFill>
                    <a:srgbClr val="BDD7E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560856"/>
              <a:ext cx="6307285" cy="2368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7"/>
                </a:lnSpc>
                <a:spcBef>
                  <a:spcPct val="0"/>
                </a:spcBef>
              </a:pPr>
              <a:r>
                <a:rPr lang="en-US" sz="2698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Simulación re</a:t>
              </a:r>
              <a:r>
                <a:rPr lang="en-US" sz="2698" u="none" strike="noStrike">
                  <a:solidFill>
                    <a:srgbClr val="F2F6F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alista sin intervención manual</a:t>
              </a:r>
            </a:p>
            <a:p>
              <a:pPr marL="0" lvl="0" indent="0" algn="l">
                <a:lnSpc>
                  <a:spcPts val="3507"/>
                </a:lnSpc>
                <a:spcBef>
                  <a:spcPct val="0"/>
                </a:spcBef>
              </a:pPr>
              <a:endParaRPr lang="en-US" sz="2698" u="none" strike="noStrike">
                <a:solidFill>
                  <a:srgbClr val="F2F6FC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3507"/>
                </a:lnSpc>
                <a:spcBef>
                  <a:spcPct val="0"/>
                </a:spcBef>
              </a:pPr>
              <a:endParaRPr lang="en-US" sz="2698" u="none" strike="noStrike">
                <a:solidFill>
                  <a:srgbClr val="F2F6FC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974152"/>
              <a:ext cx="6307285" cy="1396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5"/>
                </a:lnSpc>
                <a:spcBef>
                  <a:spcPct val="0"/>
                </a:spcBef>
              </a:pPr>
              <a:r>
                <a:rPr lang="en-US" sz="2158" spc="-43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2158" u="none" strike="noStrike" spc="-43">
                  <a:solidFill>
                    <a:srgbClr val="F2F6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eneración automática de fixture round-robin para 20 equipos (19 fechas)</a:t>
              </a:r>
            </a:p>
            <a:p>
              <a:pPr marL="0" lvl="0" indent="0" algn="l">
                <a:lnSpc>
                  <a:spcPts val="2805"/>
                </a:lnSpc>
                <a:spcBef>
                  <a:spcPct val="0"/>
                </a:spcBef>
              </a:pPr>
              <a:endParaRPr lang="en-US" sz="2158" u="none" strike="noStrike" spc="-43">
                <a:solidFill>
                  <a:srgbClr val="F2F6FC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596" y="0"/>
            <a:ext cx="8185404" cy="10287000"/>
            <a:chOff x="0" y="0"/>
            <a:chExt cx="215582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827" cy="2709333"/>
            </a:xfrm>
            <a:custGeom>
              <a:avLst/>
              <a:gdLst/>
              <a:ahLst/>
              <a:cxnLst/>
              <a:rect l="l" t="t" r="r" b="b"/>
              <a:pathLst>
                <a:path w="2155827" h="2709333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08180" y="666750"/>
            <a:ext cx="6947741" cy="8953500"/>
            <a:chOff x="0" y="0"/>
            <a:chExt cx="812800" cy="1047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47449"/>
            </a:xfrm>
            <a:custGeom>
              <a:avLst/>
              <a:gdLst/>
              <a:ahLst/>
              <a:cxnLst/>
              <a:rect l="l" t="t" r="r" b="b"/>
              <a:pathLst>
                <a:path w="812800" h="1047449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t="-306" b="-3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28675"/>
            <a:ext cx="8324850" cy="113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spc="-169">
                <a:solidFill>
                  <a:srgbClr val="BDD7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¡Gracias!</a:t>
            </a:r>
          </a:p>
        </p:txBody>
      </p:sp>
      <p:sp>
        <p:nvSpPr>
          <p:cNvPr id="8" name="Freeform 8"/>
          <p:cNvSpPr/>
          <p:nvPr/>
        </p:nvSpPr>
        <p:spPr>
          <a:xfrm rot="5400000" flipH="1">
            <a:off x="16106389" y="8352937"/>
            <a:ext cx="1792448" cy="1639275"/>
          </a:xfrm>
          <a:custGeom>
            <a:avLst/>
            <a:gdLst/>
            <a:ahLst/>
            <a:cxnLst/>
            <a:rect l="l" t="t" r="r" b="b"/>
            <a:pathLst>
              <a:path w="1792448" h="1639275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55117" y="2189502"/>
            <a:ext cx="7548116" cy="70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8"/>
              </a:lnSpc>
              <a:spcBef>
                <a:spcPct val="0"/>
              </a:spcBef>
            </a:pPr>
            <a:r>
              <a:rPr lang="en-US" sz="5288" spc="-105">
                <a:solidFill>
                  <a:srgbClr val="DBE7F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presentado y realizado por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0012" y="3889880"/>
            <a:ext cx="8573988" cy="311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 spc="-160">
                <a:solidFill>
                  <a:srgbClr val="DBE7F6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Damian Bussetto </a:t>
            </a:r>
          </a:p>
          <a:p>
            <a:pPr algn="ctr">
              <a:lnSpc>
                <a:spcPts val="8000"/>
              </a:lnSpc>
            </a:pPr>
            <a:r>
              <a:rPr lang="en-US" sz="8000" b="1" spc="-160">
                <a:solidFill>
                  <a:srgbClr val="DBE7F6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&amp;</a:t>
            </a:r>
          </a:p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DBE7F6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Leonel Garcia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531</Words>
  <Application>Microsoft Macintosh PowerPoint</Application>
  <PresentationFormat>Custom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TT Interphases Bold</vt:lpstr>
      <vt:lpstr>Helvetica World</vt:lpstr>
      <vt:lpstr>Helvetica World Bold</vt:lpstr>
      <vt:lpstr>Arial</vt:lpstr>
      <vt:lpstr>Cooper BT Bold</vt:lpstr>
      <vt:lpstr>Cooper BT Light</vt:lpstr>
      <vt:lpstr>Georgia Pro Condensed</vt:lpstr>
      <vt:lpstr>TT Interphases</vt:lpstr>
      <vt:lpstr>Cooper BT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Sistema de Simulación de Torneo</dc:title>
  <dc:description>Presentation - Sistema de Simulación de Torneo</dc:description>
  <cp:lastModifiedBy>Leonel Garcia</cp:lastModifiedBy>
  <cp:revision>1</cp:revision>
  <dcterms:created xsi:type="dcterms:W3CDTF">2006-08-16T00:00:00Z</dcterms:created>
  <dcterms:modified xsi:type="dcterms:W3CDTF">2025-11-03T02:26:59Z</dcterms:modified>
  <dc:identifier>DAG3mcTv1Bg</dc:identifier>
</cp:coreProperties>
</file>